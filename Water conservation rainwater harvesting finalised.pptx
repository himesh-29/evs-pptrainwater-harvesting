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6" r:id="rId13"/>
    <p:sldId id="270" r:id="rId14"/>
    <p:sldId id="267" r:id="rId15"/>
    <p:sldId id="268" r:id="rId16"/>
    <p:sldId id="266" r:id="rId17"/>
    <p:sldId id="271" r:id="rId18"/>
    <p:sldId id="272" r:id="rId19"/>
    <p:sldId id="274" r:id="rId20"/>
    <p:sldId id="27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-702" y="-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136" y="1410789"/>
            <a:ext cx="11364687" cy="884212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/>
            <a:r>
              <a:rPr lang="en-US" sz="5000" dirty="0" smtClean="0"/>
              <a:t>Method of Water conservation</a:t>
            </a:r>
            <a:endParaRPr lang="en-IN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638698"/>
            <a:ext cx="12192000" cy="2155371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00B0F0"/>
                </a:solidFill>
              </a:rPr>
              <a:t>Topic:</a:t>
            </a:r>
            <a:r>
              <a:rPr lang="en-US" sz="3600" dirty="0" smtClean="0">
                <a:solidFill>
                  <a:srgbClr val="00B0F0"/>
                </a:solidFill>
              </a:rPr>
              <a:t> Rainwater Harvesting</a:t>
            </a:r>
          </a:p>
          <a:p>
            <a:pPr algn="ctr"/>
            <a:endParaRPr lang="en-US" sz="3600" dirty="0" smtClean="0">
              <a:solidFill>
                <a:srgbClr val="00B0F0"/>
              </a:solidFill>
            </a:endParaRPr>
          </a:p>
          <a:p>
            <a:r>
              <a:rPr lang="en-IN" sz="3080" b="1" u="sng" dirty="0" smtClean="0">
                <a:solidFill>
                  <a:srgbClr val="00B0F0"/>
                </a:solidFill>
              </a:rPr>
              <a:t>Prepared by</a:t>
            </a:r>
            <a:r>
              <a:rPr lang="en-IN" sz="3080" b="1" dirty="0" smtClean="0">
                <a:solidFill>
                  <a:srgbClr val="00B0F0"/>
                </a:solidFill>
              </a:rPr>
              <a:t>: </a:t>
            </a:r>
            <a:r>
              <a:rPr lang="en-IN" sz="3080" dirty="0" smtClean="0">
                <a:solidFill>
                  <a:srgbClr val="00B0F0"/>
                </a:solidFill>
              </a:rPr>
              <a:t>Himesh Maniyar, </a:t>
            </a:r>
            <a:r>
              <a:rPr lang="en-IN" sz="3080" dirty="0" err="1" smtClean="0">
                <a:solidFill>
                  <a:srgbClr val="00B0F0"/>
                </a:solidFill>
              </a:rPr>
              <a:t>Sanket</a:t>
            </a:r>
            <a:r>
              <a:rPr lang="en-IN" sz="3080" dirty="0" smtClean="0">
                <a:solidFill>
                  <a:srgbClr val="00B0F0"/>
                </a:solidFill>
              </a:rPr>
              <a:t> </a:t>
            </a:r>
            <a:r>
              <a:rPr lang="en-IN" sz="3080" dirty="0" err="1" smtClean="0">
                <a:solidFill>
                  <a:srgbClr val="00B0F0"/>
                </a:solidFill>
              </a:rPr>
              <a:t>Banait</a:t>
            </a:r>
            <a:r>
              <a:rPr lang="en-IN" sz="3080" dirty="0" smtClean="0">
                <a:solidFill>
                  <a:srgbClr val="00B0F0"/>
                </a:solidFill>
              </a:rPr>
              <a:t>, </a:t>
            </a:r>
            <a:r>
              <a:rPr lang="en-IN" sz="3080" dirty="0" err="1" smtClean="0">
                <a:solidFill>
                  <a:srgbClr val="00B0F0"/>
                </a:solidFill>
              </a:rPr>
              <a:t>Priyanshu</a:t>
            </a:r>
            <a:r>
              <a:rPr lang="en-IN" sz="3080" dirty="0" smtClean="0">
                <a:solidFill>
                  <a:srgbClr val="00B0F0"/>
                </a:solidFill>
              </a:rPr>
              <a:t> </a:t>
            </a:r>
            <a:r>
              <a:rPr lang="en-IN" sz="3080" dirty="0" err="1" smtClean="0">
                <a:solidFill>
                  <a:srgbClr val="00B0F0"/>
                </a:solidFill>
              </a:rPr>
              <a:t>Kasliwal</a:t>
            </a:r>
            <a:endParaRPr lang="en-IN" sz="3080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59108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444" y="909652"/>
            <a:ext cx="7803735" cy="799507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effectLst>
                  <a:glow rad="1231900">
                    <a:srgbClr val="00B050">
                      <a:alpha val="67000"/>
                    </a:srgbClr>
                  </a:glow>
                </a:effectLst>
              </a:rPr>
              <a:t>Need of water conservation   </a:t>
            </a:r>
            <a:endParaRPr lang="en-IN" sz="2800" b="1" i="1" dirty="0">
              <a:effectLst>
                <a:glow rad="1231900">
                  <a:srgbClr val="00B050">
                    <a:alpha val="67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7092"/>
            <a:ext cx="11416554" cy="4496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We need to conserve water because of the following reasons:</a:t>
            </a:r>
          </a:p>
          <a:p>
            <a:r>
              <a:rPr lang="en-US" sz="1600" dirty="0"/>
              <a:t>Demand for water is on rise due to the increase in population and urban centers in the country.</a:t>
            </a:r>
          </a:p>
          <a:p>
            <a:r>
              <a:rPr lang="en-US" sz="1600" dirty="0"/>
              <a:t>Many water resources like rivers, lakes, ponds etc. are getting polluted.</a:t>
            </a:r>
          </a:p>
          <a:p>
            <a:r>
              <a:rPr lang="en-US" sz="1600" dirty="0"/>
              <a:t>Overuse of water has resulted in the lowering of water table in many regions.</a:t>
            </a:r>
          </a:p>
          <a:p>
            <a:r>
              <a:rPr lang="en-US" sz="1600" dirty="0"/>
              <a:t>Global warming has led to climatic changes. This has resulted in repeated droughts in several countries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 smtClean="0"/>
              <a:t>                                                                </a:t>
            </a:r>
          </a:p>
          <a:p>
            <a:pPr>
              <a:buNone/>
            </a:pPr>
            <a:r>
              <a:rPr lang="en-US" sz="1200" dirty="0" smtClean="0"/>
              <a:t>                                                               </a:t>
            </a: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These two shown images can clearly tell us the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                                         condition of humans without water.</a:t>
            </a:r>
            <a:endParaRPr lang="en-IN" sz="1800" dirty="0"/>
          </a:p>
        </p:txBody>
      </p:sp>
      <p:pic>
        <p:nvPicPr>
          <p:cNvPr id="1026" name="Picture 2" descr="Water for Life: an African Photo Exhibit - Our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362" y="3890248"/>
            <a:ext cx="2628900" cy="181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ar Diary - The importance of water - Journalist On The Ru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4958" y="3905671"/>
            <a:ext cx="2621808" cy="193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without water life is problem [water crisis] — Steemit"/>
          <p:cNvSpPr>
            <a:spLocks noChangeAspect="1" noChangeArrowheads="1"/>
          </p:cNvSpPr>
          <p:nvPr/>
        </p:nvSpPr>
        <p:spPr bwMode="auto">
          <a:xfrm>
            <a:off x="9000472" y="4060067"/>
            <a:ext cx="2980732" cy="298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without water life is problem [water crisis] — Steemi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576636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7129"/>
            <a:ext cx="11888624" cy="1237431"/>
          </a:xfrm>
        </p:spPr>
        <p:txBody>
          <a:bodyPr>
            <a:normAutofit/>
          </a:bodyPr>
          <a:lstStyle/>
          <a:p>
            <a:r>
              <a:rPr lang="en-IN" b="1" i="1" dirty="0" smtClean="0">
                <a:solidFill>
                  <a:srgbClr val="C5C5C5"/>
                </a:solidFill>
                <a:effectLst>
                  <a:glow rad="127000">
                    <a:srgbClr val="FF0000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571500" endPos="0" dist="50800" dir="5400000" sy="-100000" algn="bl" rotWithShape="0"/>
                </a:effectLst>
              </a:rPr>
              <a:t>What is the need of rain water harvesting</a:t>
            </a:r>
            <a:endParaRPr lang="en-IN" b="1" i="1" dirty="0">
              <a:solidFill>
                <a:srgbClr val="C5C5C5"/>
              </a:solidFill>
              <a:effectLst>
                <a:glow rad="127000">
                  <a:srgbClr val="FF0000"/>
                </a:glow>
                <a:outerShdw blurRad="38100" dist="38100" dir="2700000" algn="tl">
                  <a:srgbClr val="000000">
                    <a:alpha val="43137"/>
                  </a:srgbClr>
                </a:outerShdw>
                <a:reflection blurRad="571500" endPos="0" dist="508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u="sng" dirty="0"/>
              <a:t>Groundwater</a:t>
            </a:r>
            <a:r>
              <a:rPr lang="en-IN" dirty="0"/>
              <a:t> is the </a:t>
            </a:r>
            <a:r>
              <a:rPr lang="en-IN" u="sng" dirty="0"/>
              <a:t>primary source of freshwater</a:t>
            </a:r>
            <a:r>
              <a:rPr lang="en-IN" dirty="0"/>
              <a:t> that caters to the demand of ever-growing domestic, agrarian and industrial sectors of the country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Over </a:t>
            </a:r>
            <a:r>
              <a:rPr lang="en-IN" dirty="0"/>
              <a:t>the years, it has been observed that the necessity for the exploitation of groundwater resources for various everyday needs, </a:t>
            </a:r>
            <a:r>
              <a:rPr lang="en-IN" dirty="0" smtClean="0"/>
              <a:t>like </a:t>
            </a:r>
            <a:r>
              <a:rPr lang="en-IN" u="sng" dirty="0"/>
              <a:t>bathing</a:t>
            </a:r>
            <a:r>
              <a:rPr lang="en-IN" dirty="0"/>
              <a:t>, </a:t>
            </a:r>
            <a:r>
              <a:rPr lang="en-IN" u="sng" dirty="0"/>
              <a:t>cleaning</a:t>
            </a:r>
            <a:r>
              <a:rPr lang="en-IN" dirty="0"/>
              <a:t>, </a:t>
            </a:r>
            <a:r>
              <a:rPr lang="en-IN" u="sng" dirty="0"/>
              <a:t>agriculture</a:t>
            </a:r>
            <a:r>
              <a:rPr lang="en-IN" dirty="0"/>
              <a:t>, </a:t>
            </a:r>
            <a:r>
              <a:rPr lang="en-IN" u="sng" dirty="0"/>
              <a:t>drinking water</a:t>
            </a:r>
            <a:r>
              <a:rPr lang="en-IN" dirty="0"/>
              <a:t>, </a:t>
            </a:r>
            <a:r>
              <a:rPr lang="en-IN" dirty="0" smtClean="0"/>
              <a:t>and </a:t>
            </a:r>
            <a:r>
              <a:rPr lang="en-IN" u="sng" dirty="0" smtClean="0"/>
              <a:t>industrial activities</a:t>
            </a:r>
            <a:r>
              <a:rPr lang="en-IN" dirty="0" smtClean="0"/>
              <a:t> directly/indirectly creates </a:t>
            </a:r>
            <a:r>
              <a:rPr lang="en-IN" dirty="0"/>
              <a:t>tremendous water wastage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In cities, </a:t>
            </a:r>
            <a:r>
              <a:rPr lang="en-IN" u="sng" dirty="0"/>
              <a:t>much of the </a:t>
            </a:r>
            <a:r>
              <a:rPr lang="en-IN" u="sng" dirty="0" smtClean="0"/>
              <a:t>rain</a:t>
            </a:r>
            <a:r>
              <a:rPr lang="en-IN" dirty="0"/>
              <a:t> that falls on buildings, roofs, roads, and other hard landscaping </a:t>
            </a:r>
            <a:r>
              <a:rPr lang="en-IN" u="sng" dirty="0"/>
              <a:t>does not </a:t>
            </a:r>
            <a:r>
              <a:rPr lang="en-IN" u="sng" dirty="0" smtClean="0"/>
              <a:t>percolate</a:t>
            </a:r>
            <a:r>
              <a:rPr lang="en-IN" u="sng" dirty="0"/>
              <a:t> </a:t>
            </a:r>
            <a:r>
              <a:rPr lang="en-IN" u="sng" dirty="0" smtClean="0"/>
              <a:t>into </a:t>
            </a:r>
            <a:r>
              <a:rPr lang="en-IN" u="sng" dirty="0"/>
              <a:t>the </a:t>
            </a:r>
            <a:r>
              <a:rPr lang="en-IN" u="sng" dirty="0" smtClean="0"/>
              <a:t>soil</a:t>
            </a:r>
            <a:r>
              <a:rPr lang="en-IN" dirty="0"/>
              <a:t> </a:t>
            </a:r>
            <a:r>
              <a:rPr lang="en-IN" dirty="0" smtClean="0"/>
              <a:t>and </a:t>
            </a:r>
            <a:r>
              <a:rPr lang="en-IN" dirty="0"/>
              <a:t>is</a:t>
            </a:r>
            <a:r>
              <a:rPr lang="en-IN" u="sng" dirty="0"/>
              <a:t> instead directed into storm sewers for disposal</a:t>
            </a:r>
            <a:r>
              <a:rPr lang="en-IN" dirty="0"/>
              <a:t>. </a:t>
            </a:r>
            <a:endParaRPr lang="en-IN" dirty="0" smtClean="0"/>
          </a:p>
          <a:p>
            <a:pPr algn="just"/>
            <a:r>
              <a:rPr lang="en-IN" dirty="0" smtClean="0"/>
              <a:t>During </a:t>
            </a:r>
            <a:r>
              <a:rPr lang="en-IN" dirty="0"/>
              <a:t>dry months, </a:t>
            </a:r>
            <a:r>
              <a:rPr lang="en-IN" u="sng" dirty="0"/>
              <a:t>local </a:t>
            </a:r>
            <a:r>
              <a:rPr lang="en-IN" u="sng" dirty="0" smtClean="0"/>
              <a:t>groundwater is </a:t>
            </a:r>
            <a:r>
              <a:rPr lang="en-IN" u="sng" dirty="0"/>
              <a:t>depleted</a:t>
            </a:r>
            <a:r>
              <a:rPr lang="en-IN" dirty="0"/>
              <a:t>, and many localities </a:t>
            </a:r>
            <a:r>
              <a:rPr lang="en-IN" u="sng" dirty="0"/>
              <a:t>struggle</a:t>
            </a:r>
            <a:r>
              <a:rPr lang="en-IN" dirty="0"/>
              <a:t> to consistently provide enough potable water to meet demand.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95272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ainwater Harvesting - Waterways Environmental"/>
          <p:cNvPicPr>
            <a:picLocks noGrp="1"/>
          </p:cNvPicPr>
          <p:nvPr>
            <p:ph idx="1"/>
          </p:nvPr>
        </p:nvPicPr>
        <p:blipFill>
          <a:blip r:embed="rId2"/>
          <a:srcRect b="3833"/>
          <a:stretch>
            <a:fillRect/>
          </a:stretch>
        </p:blipFill>
        <p:spPr bwMode="auto">
          <a:xfrm>
            <a:off x="3495675" y="1303999"/>
            <a:ext cx="5400675" cy="4091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073840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973923"/>
            <a:ext cx="8610600" cy="1293028"/>
          </a:xfrm>
        </p:spPr>
        <p:txBody>
          <a:bodyPr/>
          <a:lstStyle/>
          <a:p>
            <a:r>
              <a:rPr lang="en-IN" b="1" dirty="0">
                <a:effectLst>
                  <a:glow rad="800100">
                    <a:srgbClr val="92D050">
                      <a:alpha val="74000"/>
                    </a:srgbClr>
                  </a:glow>
                </a:effectLst>
              </a:rPr>
              <a:t>WHAT IS RAINWATER HARVESTING</a:t>
            </a:r>
            <a:endParaRPr lang="en-IN" dirty="0">
              <a:effectLst>
                <a:glow rad="800100">
                  <a:srgbClr val="92D050">
                    <a:alpha val="74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Rainwater harvesting system, also called 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rainwater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catchment system, is the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employment of 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technology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that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collects and stores 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rainwater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human use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replenishes the groundwater as well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Adopting rainwater </a:t>
            </a:r>
            <a:r>
              <a:rPr lang="en-IN" dirty="0">
                <a:solidFill>
                  <a:srgbClr val="00B0F0"/>
                </a:solidFill>
              </a:rPr>
              <a:t>harvesting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and recharging </a:t>
            </a:r>
            <a:r>
              <a:rPr lang="en-IN" dirty="0"/>
              <a:t>groundwater is one of the simplest and best </a:t>
            </a:r>
            <a:r>
              <a:rPr lang="en-IN" dirty="0">
                <a:solidFill>
                  <a:srgbClr val="00B0F0"/>
                </a:solidFill>
              </a:rPr>
              <a:t>measures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in conserving </a:t>
            </a:r>
            <a:r>
              <a:rPr lang="en-IN" dirty="0"/>
              <a:t>water globally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>
                <a:solidFill>
                  <a:srgbClr val="00B050"/>
                </a:solidFill>
              </a:rPr>
              <a:t>Rainwater harvesting is one of the simplest and oldest methods of self-supply of water for households, and residential and household-scale </a:t>
            </a:r>
            <a:r>
              <a:rPr lang="en-IN" dirty="0" smtClean="0">
                <a:solidFill>
                  <a:srgbClr val="00B050"/>
                </a:solidFill>
              </a:rPr>
              <a:t>projects.</a:t>
            </a:r>
            <a:endParaRPr lang="en-IN" dirty="0">
              <a:solidFill>
                <a:srgbClr val="00B050"/>
              </a:solidFill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81446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3" y="731520"/>
            <a:ext cx="9825176" cy="1371600"/>
          </a:xfrm>
        </p:spPr>
        <p:txBody>
          <a:bodyPr>
            <a:normAutofit/>
          </a:bodyPr>
          <a:lstStyle/>
          <a:p>
            <a:r>
              <a:rPr lang="en-IN" sz="2800" b="1" i="1" u="sng" dirty="0" smtClean="0">
                <a:solidFill>
                  <a:srgbClr val="FFFF00"/>
                </a:solidFill>
              </a:rPr>
              <a:t>Basic skeleton of rainwater harvesting</a:t>
            </a:r>
            <a:endParaRPr lang="en-IN" sz="2800" b="1" i="1" u="sng" dirty="0">
              <a:solidFill>
                <a:srgbClr val="FFFF00"/>
              </a:solidFill>
            </a:endParaRPr>
          </a:p>
        </p:txBody>
      </p:sp>
      <p:pic>
        <p:nvPicPr>
          <p:cNvPr id="4" name="Content Placeholder 3" descr="Rainwater Harvesting : All you need to know - GreenSutra®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51116" y="2193925"/>
            <a:ext cx="6689767" cy="402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67015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09385" y="1012469"/>
            <a:ext cx="11738361" cy="1072973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HOW </a:t>
            </a:r>
            <a:r>
              <a:rPr lang="en-IN" sz="3200" b="1" dirty="0" smtClean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rainwater harvesting </a:t>
            </a:r>
            <a:r>
              <a:rPr lang="en-IN" sz="3200" b="1" dirty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IS PRACTICED</a:t>
            </a:r>
            <a:endParaRPr lang="en-IN" sz="3200" dirty="0">
              <a:effectLst>
                <a:glow rad="927100">
                  <a:srgbClr val="00B050">
                    <a:alpha val="73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2185035"/>
            <a:ext cx="11260183" cy="4291965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process involves </a:t>
            </a:r>
            <a:r>
              <a:rPr lang="en-IN" dirty="0">
                <a:solidFill>
                  <a:srgbClr val="FFC000"/>
                </a:solidFill>
              </a:rPr>
              <a:t>collection</a:t>
            </a:r>
            <a:r>
              <a:rPr lang="en-IN" dirty="0"/>
              <a:t> and </a:t>
            </a:r>
            <a:r>
              <a:rPr lang="en-IN" dirty="0">
                <a:solidFill>
                  <a:srgbClr val="FFC000"/>
                </a:solidFill>
              </a:rPr>
              <a:t>storage of rainwater</a:t>
            </a:r>
            <a:r>
              <a:rPr lang="en-IN" dirty="0"/>
              <a:t> with </a:t>
            </a:r>
            <a:r>
              <a:rPr lang="en-IN" dirty="0">
                <a:solidFill>
                  <a:srgbClr val="FFC000"/>
                </a:solidFill>
              </a:rPr>
              <a:t>help of artificially designed systems</a:t>
            </a:r>
            <a:r>
              <a:rPr lang="en-IN" dirty="0"/>
              <a:t>, that </a:t>
            </a:r>
            <a:r>
              <a:rPr lang="en-IN" dirty="0">
                <a:solidFill>
                  <a:srgbClr val="FFC000"/>
                </a:solidFill>
              </a:rPr>
              <a:t>runs off natural or man-made catchment areas</a:t>
            </a:r>
            <a:r>
              <a:rPr lang="en-IN" dirty="0"/>
              <a:t> e.g. rooftop, rocky surface, hill slopes.</a:t>
            </a:r>
          </a:p>
          <a:p>
            <a:pPr algn="just"/>
            <a:r>
              <a:rPr lang="en-IN" dirty="0"/>
              <a:t>Water harvesting can be undertaken through a variety of ways. These </a:t>
            </a:r>
            <a:r>
              <a:rPr lang="en-IN" dirty="0" smtClean="0"/>
              <a:t>are:</a:t>
            </a:r>
            <a:endParaRPr lang="en-IN" dirty="0"/>
          </a:p>
          <a:p>
            <a:pPr lvl="1" algn="just"/>
            <a:r>
              <a:rPr lang="en-IN" sz="2200" dirty="0" smtClean="0"/>
              <a:t>Capturing </a:t>
            </a:r>
            <a:r>
              <a:rPr lang="en-IN" sz="2200" dirty="0"/>
              <a:t>runoff from rooftops.</a:t>
            </a:r>
          </a:p>
          <a:p>
            <a:pPr lvl="1" algn="just"/>
            <a:r>
              <a:rPr lang="en-IN" sz="2200" dirty="0"/>
              <a:t>Capturing runoff from local </a:t>
            </a:r>
            <a:r>
              <a:rPr lang="en-IN" sz="2200" dirty="0" smtClean="0"/>
              <a:t>catchments.</a:t>
            </a:r>
            <a:endParaRPr lang="en-IN" sz="2200" dirty="0"/>
          </a:p>
          <a:p>
            <a:pPr lvl="1" algn="just"/>
            <a:r>
              <a:rPr lang="en-IN" sz="2200" dirty="0"/>
              <a:t>Conserving water through watershed management</a:t>
            </a:r>
            <a:r>
              <a:rPr lang="en-IN" sz="2200" dirty="0" smtClean="0"/>
              <a:t>.</a:t>
            </a:r>
            <a:r>
              <a:rPr lang="en-US" sz="2200" dirty="0"/>
              <a:t> </a:t>
            </a:r>
            <a:endParaRPr lang="en-IN" sz="2200" dirty="0"/>
          </a:p>
          <a:p>
            <a:pPr algn="just"/>
            <a:r>
              <a:rPr lang="en-IN" dirty="0"/>
              <a:t>The collected rainwater from surfaces on which rain falls may be </a:t>
            </a:r>
            <a:r>
              <a:rPr lang="en-IN" dirty="0">
                <a:solidFill>
                  <a:srgbClr val="00B0F0"/>
                </a:solidFill>
              </a:rPr>
              <a:t>filtered</a:t>
            </a:r>
            <a:r>
              <a:rPr lang="en-IN" dirty="0"/>
              <a:t>, </a:t>
            </a:r>
            <a:r>
              <a:rPr lang="en-IN" dirty="0">
                <a:solidFill>
                  <a:srgbClr val="00B0F0"/>
                </a:solidFill>
              </a:rPr>
              <a:t>stored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utilized</a:t>
            </a:r>
            <a:r>
              <a:rPr lang="en-IN" dirty="0"/>
              <a:t> in different ways or </a:t>
            </a:r>
            <a:r>
              <a:rPr lang="en-IN" dirty="0">
                <a:solidFill>
                  <a:srgbClr val="00B0F0"/>
                </a:solidFill>
              </a:rPr>
              <a:t>directly used for recharge </a:t>
            </a:r>
            <a:r>
              <a:rPr lang="en-IN" dirty="0" smtClean="0">
                <a:solidFill>
                  <a:srgbClr val="00B0F0"/>
                </a:solidFill>
              </a:rPr>
              <a:t>purposes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Rainwater </a:t>
            </a:r>
            <a:r>
              <a:rPr lang="en-IN" dirty="0"/>
              <a:t>Harvesting </a:t>
            </a:r>
            <a:r>
              <a:rPr lang="en-IN" dirty="0" smtClean="0">
                <a:solidFill>
                  <a:srgbClr val="00B0F0"/>
                </a:solidFill>
              </a:rPr>
              <a:t>doesn’t contain </a:t>
            </a:r>
            <a:r>
              <a:rPr lang="en-IN" dirty="0">
                <a:solidFill>
                  <a:srgbClr val="00B0F0"/>
                </a:solidFill>
              </a:rPr>
              <a:t>any kind of impurity</a:t>
            </a:r>
            <a:r>
              <a:rPr lang="en-IN" dirty="0"/>
              <a:t>, with </a:t>
            </a:r>
            <a:r>
              <a:rPr lang="en-IN" dirty="0">
                <a:solidFill>
                  <a:srgbClr val="00B0F0"/>
                </a:solidFill>
              </a:rPr>
              <a:t>relatively less storage cost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no maintenance cost</a:t>
            </a:r>
            <a:r>
              <a:rPr lang="en-IN" dirty="0"/>
              <a:t> involved except for periodical cleaning.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142157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676" y="878673"/>
            <a:ext cx="11953875" cy="1293028"/>
          </a:xfrm>
        </p:spPr>
        <p:txBody>
          <a:bodyPr>
            <a:normAutofit/>
          </a:bodyPr>
          <a:lstStyle/>
          <a:p>
            <a:r>
              <a:rPr lang="en-IN" dirty="0" smtClean="0">
                <a:effectLst>
                  <a:glow rad="927100">
                    <a:srgbClr val="00B050">
                      <a:alpha val="66000"/>
                    </a:srgbClr>
                  </a:glow>
                </a:effectLst>
              </a:rPr>
              <a:t>Rainwater harvesting at individual level</a:t>
            </a:r>
            <a:endParaRPr lang="en-IN" dirty="0">
              <a:effectLst>
                <a:glow rad="927100">
                  <a:srgbClr val="00B050">
                    <a:alpha val="66000"/>
                  </a:srgbClr>
                </a:glow>
              </a:effectLst>
            </a:endParaRPr>
          </a:p>
        </p:txBody>
      </p:sp>
      <p:pic>
        <p:nvPicPr>
          <p:cNvPr id="4" name="Content Placeholder 3" descr="Rainwater Harvesting System Isometric Diagram Stock Vector - Illustration  of isometric, rain: 170058717"/>
          <p:cNvPicPr>
            <a:picLocks noGrp="1"/>
          </p:cNvPicPr>
          <p:nvPr>
            <p:ph idx="1"/>
          </p:nvPr>
        </p:nvPicPr>
        <p:blipFill>
          <a:blip r:embed="rId2"/>
          <a:srcRect b="7273"/>
          <a:stretch>
            <a:fillRect/>
          </a:stretch>
        </p:blipFill>
        <p:spPr bwMode="auto">
          <a:xfrm>
            <a:off x="3295651" y="2057401"/>
            <a:ext cx="6696074" cy="460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41940007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988" y="712694"/>
            <a:ext cx="10995212" cy="1075765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HOW </a:t>
            </a:r>
            <a:r>
              <a:rPr lang="en-IN" sz="2800" b="1" dirty="0" smtClean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rainwater harvesting </a:t>
            </a:r>
            <a:r>
              <a:rPr lang="en-IN" sz="2800" b="1" dirty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IS PRACTICED IN ANCIENT </a:t>
            </a:r>
            <a:r>
              <a:rPr lang="en-IN" sz="2800" b="1" dirty="0" smtClean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INDIA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7" y="1546411"/>
            <a:ext cx="11806517" cy="5298141"/>
          </a:xfrm>
        </p:spPr>
        <p:txBody>
          <a:bodyPr>
            <a:normAutofit/>
          </a:bodyPr>
          <a:lstStyle/>
          <a:p>
            <a:pPr marL="0" indent="0" algn="just"/>
            <a:r>
              <a:rPr lang="en-IN" sz="2100" dirty="0"/>
              <a:t>Around 300 BC, Kutch, India, used rainwater harvesting for agriculture and many other uses. 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Rainwater </a:t>
            </a:r>
            <a:r>
              <a:rPr lang="en-IN" sz="2100" dirty="0"/>
              <a:t>harvesting was done by </a:t>
            </a:r>
            <a:r>
              <a:rPr lang="en-IN" sz="2100" dirty="0" err="1" smtClean="0"/>
              <a:t>Chola</a:t>
            </a:r>
            <a:r>
              <a:rPr lang="en-IN" sz="2100" dirty="0"/>
              <a:t> </a:t>
            </a:r>
            <a:r>
              <a:rPr lang="en-IN" sz="2100" dirty="0" smtClean="0"/>
              <a:t>kings</a:t>
            </a:r>
            <a:r>
              <a:rPr lang="en-IN" sz="2100" dirty="0"/>
              <a:t> as well. 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Rainwater </a:t>
            </a:r>
            <a:r>
              <a:rPr lang="en-IN" sz="2100" dirty="0"/>
              <a:t>from the </a:t>
            </a:r>
            <a:r>
              <a:rPr lang="en-IN" sz="2100" dirty="0" smtClean="0"/>
              <a:t>Brihadeeswarar</a:t>
            </a:r>
            <a:r>
              <a:rPr lang="en-IN" sz="2100" dirty="0"/>
              <a:t> </a:t>
            </a:r>
            <a:r>
              <a:rPr lang="en-IN" sz="2100" dirty="0" smtClean="0"/>
              <a:t>temple</a:t>
            </a:r>
            <a:r>
              <a:rPr lang="en-IN" sz="2100" dirty="0"/>
              <a:t> </a:t>
            </a:r>
            <a:r>
              <a:rPr lang="en-IN" sz="2100" dirty="0" smtClean="0"/>
              <a:t>in Thanjavur </a:t>
            </a:r>
            <a:r>
              <a:rPr lang="en-IN" sz="2100" dirty="0"/>
              <a:t>was collected in </a:t>
            </a:r>
            <a:r>
              <a:rPr lang="en-IN" sz="2100" dirty="0" err="1"/>
              <a:t>Shivaganga</a:t>
            </a:r>
            <a:r>
              <a:rPr lang="en-IN" sz="2100" dirty="0"/>
              <a:t> tank. 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During </a:t>
            </a:r>
            <a:r>
              <a:rPr lang="en-IN" sz="2100" dirty="0"/>
              <a:t>the later </a:t>
            </a:r>
            <a:r>
              <a:rPr lang="en-IN" sz="2100" dirty="0" err="1"/>
              <a:t>Chola</a:t>
            </a:r>
            <a:r>
              <a:rPr lang="en-IN" sz="2100" dirty="0"/>
              <a:t> period, the </a:t>
            </a:r>
            <a:r>
              <a:rPr lang="en-IN" sz="2100" dirty="0" err="1" smtClean="0"/>
              <a:t>Viranam</a:t>
            </a:r>
            <a:r>
              <a:rPr lang="en-IN" sz="2100" dirty="0" smtClean="0"/>
              <a:t> </a:t>
            </a:r>
            <a:r>
              <a:rPr lang="en-IN" sz="2100" dirty="0"/>
              <a:t>tank was </a:t>
            </a:r>
            <a:r>
              <a:rPr lang="en-IN" sz="2100" dirty="0" smtClean="0"/>
              <a:t>built in</a:t>
            </a:r>
            <a:r>
              <a:rPr lang="en-IN" sz="2100" dirty="0"/>
              <a:t> Tamil Nadu to store water for drinking and irrigation </a:t>
            </a:r>
            <a:r>
              <a:rPr lang="en-IN" sz="2100" dirty="0" smtClean="0"/>
              <a:t>purposes.</a:t>
            </a:r>
          </a:p>
          <a:p>
            <a:pPr marL="0" indent="0" algn="just"/>
            <a:r>
              <a:rPr lang="en-IN" sz="2100" dirty="0" smtClean="0"/>
              <a:t>The </a:t>
            </a:r>
            <a:r>
              <a:rPr lang="en-IN" sz="2100" dirty="0"/>
              <a:t>technology of rainwater harvesting is deeply rooted in the </a:t>
            </a:r>
            <a:r>
              <a:rPr lang="en-IN" sz="2100" dirty="0" smtClean="0"/>
              <a:t>spirit of </a:t>
            </a:r>
            <a:r>
              <a:rPr lang="en-IN" sz="2100" dirty="0"/>
              <a:t>India with a variety of ancient </a:t>
            </a:r>
            <a:r>
              <a:rPr lang="en-IN" sz="2100" dirty="0" smtClean="0"/>
              <a:t>methods which are </a:t>
            </a:r>
            <a:r>
              <a:rPr lang="en-IN" sz="2100" dirty="0"/>
              <a:t>still found </a:t>
            </a:r>
            <a:r>
              <a:rPr lang="en-IN" sz="2100" dirty="0" smtClean="0"/>
              <a:t>today which include</a:t>
            </a:r>
            <a:r>
              <a:rPr lang="en-IN" sz="2100" dirty="0"/>
              <a:t>: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Talibs</a:t>
            </a:r>
            <a:r>
              <a:rPr lang="en-IN" sz="2100" dirty="0"/>
              <a:t>: Medium to large sized reservoirs that provide irrigation for plants as well as </a:t>
            </a:r>
            <a:r>
              <a:rPr lang="en-IN" sz="2100" dirty="0" smtClean="0"/>
              <a:t>drinking</a:t>
            </a:r>
            <a:r>
              <a:rPr lang="en-IN" sz="2100" dirty="0"/>
              <a:t>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Johads</a:t>
            </a:r>
            <a:r>
              <a:rPr lang="en-IN" sz="2100" dirty="0"/>
              <a:t>: Dams that are used to capture and keep rainwater.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Baoris</a:t>
            </a:r>
            <a:r>
              <a:rPr lang="en-IN" sz="2100" dirty="0"/>
              <a:t>: Wells dug into the ground </a:t>
            </a:r>
            <a:r>
              <a:rPr lang="en-IN" sz="2100" dirty="0" smtClean="0"/>
              <a:t>are still often </a:t>
            </a:r>
            <a:r>
              <a:rPr lang="en-IN" sz="2100" dirty="0"/>
              <a:t>used for drinking.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Jhalaras</a:t>
            </a:r>
            <a:r>
              <a:rPr lang="en-IN" sz="2100" dirty="0"/>
              <a:t>: Specially constructed tanks that are used for the local community and </a:t>
            </a:r>
            <a:r>
              <a:rPr lang="en-IN" sz="2100" dirty="0" smtClean="0"/>
              <a:t>religious </a:t>
            </a:r>
            <a:r>
              <a:rPr lang="en-IN" sz="2100" dirty="0"/>
              <a:t>purposes.</a:t>
            </a:r>
          </a:p>
          <a:p>
            <a:pPr marL="0" indent="0" algn="just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xmlns="" val="317801676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449" y="0"/>
            <a:ext cx="6330776" cy="605118"/>
          </a:xfrm>
        </p:spPr>
        <p:txBody>
          <a:bodyPr>
            <a:noAutofit/>
          </a:bodyPr>
          <a:lstStyle/>
          <a:p>
            <a:pPr algn="ctr"/>
            <a:r>
              <a:rPr lang="en-IN" sz="1800" b="1" dirty="0" smtClean="0">
                <a:solidFill>
                  <a:srgbClr val="FFFF00"/>
                </a:solidFill>
                <a:effectLst>
                  <a:glow rad="800100">
                    <a:srgbClr val="92D050">
                      <a:alpha val="43000"/>
                    </a:srgbClr>
                  </a:glow>
                </a:effectLst>
              </a:rPr>
              <a:t>Some images of ancient rain water harvesting</a:t>
            </a:r>
            <a:endParaRPr lang="en-IN" sz="1800" b="1" dirty="0">
              <a:solidFill>
                <a:srgbClr val="FFFF00"/>
              </a:solidFill>
              <a:effectLst>
                <a:glow rad="800100">
                  <a:srgbClr val="92D050">
                    <a:alpha val="43000"/>
                  </a:srgbClr>
                </a:glow>
              </a:effectLst>
            </a:endParaRPr>
          </a:p>
        </p:txBody>
      </p:sp>
      <p:pic>
        <p:nvPicPr>
          <p:cNvPr id="5" name="Picture 4" descr="Sun Temple Modhera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4894" y="1223683"/>
            <a:ext cx="4464424" cy="2501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Water Harvesting in Ancient India Far Advanced than Present; Here is How"/>
          <p:cNvPicPr/>
          <p:nvPr/>
        </p:nvPicPr>
        <p:blipFill>
          <a:blip r:embed="rId3"/>
          <a:srcRect r="48266"/>
          <a:stretch>
            <a:fillRect/>
          </a:stretch>
        </p:blipFill>
        <p:spPr bwMode="auto">
          <a:xfrm>
            <a:off x="887505" y="4303059"/>
            <a:ext cx="4612341" cy="255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Water Harvesting in Ancient India Far Advanced than Present; Here is How"/>
          <p:cNvPicPr/>
          <p:nvPr/>
        </p:nvPicPr>
        <p:blipFill>
          <a:blip r:embed="rId3"/>
          <a:srcRect l="51647"/>
          <a:stretch>
            <a:fillRect/>
          </a:stretch>
        </p:blipFill>
        <p:spPr bwMode="auto">
          <a:xfrm>
            <a:off x="6831106" y="4293326"/>
            <a:ext cx="4480435" cy="256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7368988" y="712694"/>
            <a:ext cx="3550022" cy="467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KUND </a:t>
            </a:r>
            <a:r>
              <a:rPr lang="en-IN" dirty="0" smtClean="0">
                <a:solidFill>
                  <a:srgbClr val="FFFF00"/>
                </a:solidFill>
              </a:rPr>
              <a:t>in </a:t>
            </a:r>
            <a:r>
              <a:rPr lang="en-IN" dirty="0" err="1" smtClean="0">
                <a:solidFill>
                  <a:srgbClr val="FFFF00"/>
                </a:solidFill>
              </a:rPr>
              <a:t>Modhera</a:t>
            </a:r>
            <a:r>
              <a:rPr lang="en-IN" dirty="0" smtClean="0">
                <a:solidFill>
                  <a:srgbClr val="FFFF00"/>
                </a:solidFill>
              </a:rPr>
              <a:t> Sun temple 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81954" y="3796552"/>
            <a:ext cx="3550022" cy="467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>
                <a:solidFill>
                  <a:srgbClr val="FFFF00"/>
                </a:solidFill>
              </a:rPr>
              <a:t>Chittor</a:t>
            </a:r>
            <a:r>
              <a:rPr lang="en-IN" dirty="0" smtClean="0">
                <a:solidFill>
                  <a:srgbClr val="FFFF00"/>
                </a:solidFill>
              </a:rPr>
              <a:t> fort(could contains 4 billion litres of water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55543" y="3783109"/>
            <a:ext cx="3644153" cy="467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>
                <a:solidFill>
                  <a:srgbClr val="FFFF00"/>
                </a:solidFill>
              </a:rPr>
              <a:t>Resorvoir</a:t>
            </a:r>
            <a:r>
              <a:rPr lang="en-IN" dirty="0" smtClean="0">
                <a:solidFill>
                  <a:srgbClr val="FFFF00"/>
                </a:solidFill>
              </a:rPr>
              <a:t> in </a:t>
            </a:r>
            <a:r>
              <a:rPr lang="en-IN" dirty="0" err="1" smtClean="0">
                <a:solidFill>
                  <a:srgbClr val="FFFF00"/>
                </a:solidFill>
              </a:rPr>
              <a:t>Dholavira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74811" y="7102736"/>
            <a:ext cx="10820400" cy="4024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2290" name="Picture 2" descr="Image result for kund in various places in indi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7588" y="1223682"/>
            <a:ext cx="4685365" cy="2460812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362636" y="690282"/>
            <a:ext cx="3550022" cy="467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>
                <a:solidFill>
                  <a:srgbClr val="FFFF00"/>
                </a:solidFill>
              </a:rPr>
              <a:t>Panna</a:t>
            </a:r>
            <a:r>
              <a:rPr lang="en-IN" dirty="0" smtClean="0">
                <a:solidFill>
                  <a:srgbClr val="FFFF00"/>
                </a:solidFill>
              </a:rPr>
              <a:t> </a:t>
            </a:r>
            <a:r>
              <a:rPr lang="en-IN" dirty="0" err="1" smtClean="0">
                <a:solidFill>
                  <a:srgbClr val="FFFF00"/>
                </a:solidFill>
              </a:rPr>
              <a:t>Meena</a:t>
            </a:r>
            <a:r>
              <a:rPr lang="en-IN" dirty="0" smtClean="0">
                <a:solidFill>
                  <a:srgbClr val="FFFF00"/>
                </a:solidFill>
              </a:rPr>
              <a:t> ka </a:t>
            </a:r>
            <a:r>
              <a:rPr lang="en-IN" dirty="0" err="1" smtClean="0">
                <a:solidFill>
                  <a:srgbClr val="FFFF00"/>
                </a:solidFill>
              </a:rPr>
              <a:t>kund</a:t>
            </a:r>
            <a:r>
              <a:rPr lang="en-IN" dirty="0" smtClean="0">
                <a:solidFill>
                  <a:srgbClr val="FFFF00"/>
                </a:solidFill>
              </a:rPr>
              <a:t>, Jaipur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18960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5151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TRADITIONAL RAINWATER HARVESTING IN </a:t>
            </a:r>
            <a:r>
              <a:rPr lang="en-IN" sz="3200" b="1" dirty="0" smtClean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INDIA which are still present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152" y="1304365"/>
            <a:ext cx="11729197" cy="5553635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Himalayan Region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Zing -Tanks for collecting water from melted ice in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Ladakh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>
                <a:latin typeface="Arial" pitchFamily="34" charset="0"/>
                <a:cs typeface="Arial" pitchFamily="34" charset="0"/>
              </a:rPr>
            </a:br>
            <a:r>
              <a:rPr lang="en-IN" sz="2400" dirty="0" err="1">
                <a:latin typeface="Arial" pitchFamily="34" charset="0"/>
                <a:cs typeface="Arial" pitchFamily="34" charset="0"/>
              </a:rPr>
              <a:t>Kul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 -Water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channels in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mountain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areas of Jammu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 Himachal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Pradesh.</a:t>
            </a: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dirty="0">
                <a:latin typeface="Engravers MT" pitchFamily="18" charset="0"/>
                <a:cs typeface="Arial" pitchFamily="34" charset="0"/>
              </a:rPr>
              <a:t>Eastern 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Himalayas</a:t>
            </a:r>
          </a:p>
          <a:p>
            <a:pPr>
              <a:buNone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>
                <a:latin typeface="Arial" pitchFamily="34" charset="0"/>
                <a:cs typeface="Arial" pitchFamily="34" charset="0"/>
              </a:rPr>
            </a:br>
            <a:r>
              <a:rPr lang="en-IN" sz="2400" dirty="0">
                <a:latin typeface="Arial" pitchFamily="34" charset="0"/>
                <a:cs typeface="Arial" pitchFamily="34" charset="0"/>
              </a:rPr>
              <a:t>Bamboo drip irrigation – Water from streams in the hills is brought to the plains via bamboo pipes for drip irrigation in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Meghalaya</a:t>
            </a: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dirty="0">
                <a:latin typeface="Engravers MT" pitchFamily="18" charset="0"/>
                <a:cs typeface="Arial" pitchFamily="34" charset="0"/>
              </a:rPr>
              <a:t>Brahmaputra 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Valley</a:t>
            </a:r>
          </a:p>
          <a:p>
            <a:pPr>
              <a:buNone/>
            </a:pPr>
            <a:endParaRPr lang="en-IN" sz="2400" dirty="0" smtClean="0">
              <a:latin typeface="Engravers MT" pitchFamily="18" charset="0"/>
              <a:cs typeface="Arial" pitchFamily="34" charset="0"/>
            </a:endParaRP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	Dongs – Ponds in Assam</a:t>
            </a:r>
          </a:p>
          <a:p>
            <a:pPr>
              <a:buNone/>
            </a:pP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283351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9596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TRADITIONAL RAINWATER HARVESTING IN INDIA which are still present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94" y="2194560"/>
            <a:ext cx="11936506" cy="4024125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Indo-</a:t>
            </a:r>
            <a:r>
              <a:rPr lang="en-IN" sz="2400" dirty="0" err="1" smtClean="0">
                <a:latin typeface="Engravers MT" pitchFamily="18" charset="0"/>
                <a:cs typeface="Arial" pitchFamily="34" charset="0"/>
              </a:rPr>
              <a:t>Gangetic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 Plain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Baolis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– secular structured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stepwells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from which everyone could draw water and use for washing and bathing.</a:t>
            </a:r>
          </a:p>
          <a:p>
            <a:pPr>
              <a:buNone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err="1" smtClean="0">
                <a:latin typeface="Engravers MT" pitchFamily="18" charset="0"/>
                <a:cs typeface="Arial" pitchFamily="34" charset="0"/>
              </a:rPr>
              <a:t>Thar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 Desert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Baoris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-Community wells in Rajasthan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Tankas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-Underground tank Bikaner in Rajasthan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Kund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– a circular underground well; having a saucer-shaped catchment area that gently slopes towards 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center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where the well is situated.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rain water harvesting in trans himalayan reg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2256" y="1274112"/>
            <a:ext cx="35718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58147" y="423026"/>
            <a:ext cx="3499971" cy="676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Rain Water Harvesting in Trans Himalayan region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99792" y="5156369"/>
            <a:ext cx="3705225" cy="676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Rain Water Harvesting in Brahmaputra valley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3076" name="Picture 4" descr="Image result for rain water harvesting in brahmaputra valley reg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46126" y="4044194"/>
            <a:ext cx="435610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rain water harvesting in Thar Dese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46985" y="1213879"/>
            <a:ext cx="3937001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79638" y="449919"/>
            <a:ext cx="2884486" cy="6381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smtClean="0">
              <a:solidFill>
                <a:srgbClr val="FFFF00"/>
              </a:solidFill>
            </a:endParaRP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Rain </a:t>
            </a:r>
            <a:r>
              <a:rPr lang="en-IN" dirty="0">
                <a:solidFill>
                  <a:srgbClr val="FFFF00"/>
                </a:solidFill>
              </a:rPr>
              <a:t>Water Harvesting in </a:t>
            </a:r>
            <a:r>
              <a:rPr lang="en-IN" dirty="0" err="1" smtClean="0">
                <a:solidFill>
                  <a:srgbClr val="FFFF00"/>
                </a:solidFill>
              </a:rPr>
              <a:t>Thar</a:t>
            </a:r>
            <a:r>
              <a:rPr lang="en-IN" dirty="0" smtClean="0">
                <a:solidFill>
                  <a:srgbClr val="FFFF00"/>
                </a:solidFill>
              </a:rPr>
              <a:t> Desert</a:t>
            </a:r>
            <a:endParaRPr lang="en-IN" dirty="0">
              <a:solidFill>
                <a:srgbClr val="FFFF00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442042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8676" y="1063457"/>
            <a:ext cx="12734926" cy="1293028"/>
          </a:xfrm>
        </p:spPr>
        <p:txBody>
          <a:bodyPr>
            <a:normAutofit/>
          </a:bodyPr>
          <a:lstStyle/>
          <a:p>
            <a:r>
              <a:rPr lang="en-IN" sz="24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Methods of Rainwater harvesting adopted in rural and urban areas</a:t>
            </a:r>
            <a:endParaRPr lang="en-IN" sz="24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25" y="2148522"/>
            <a:ext cx="10820400" cy="402412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FF00"/>
                </a:solidFill>
              </a:rPr>
              <a:t>1. Surface runoff harvesting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In this method, rainwater </a:t>
            </a:r>
            <a:r>
              <a:rPr lang="en-IN" dirty="0">
                <a:solidFill>
                  <a:srgbClr val="00B0F0"/>
                </a:solidFill>
              </a:rPr>
              <a:t>flows away as surface runoff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can be stored</a:t>
            </a:r>
            <a:r>
              <a:rPr lang="en-IN" dirty="0"/>
              <a:t> for future use. Surface water can be </a:t>
            </a:r>
            <a:r>
              <a:rPr lang="en-IN" dirty="0">
                <a:solidFill>
                  <a:srgbClr val="00B0F0"/>
                </a:solidFill>
              </a:rPr>
              <a:t>stored by diverting the flow of small </a:t>
            </a:r>
            <a:r>
              <a:rPr lang="en-IN" dirty="0" smtClean="0">
                <a:solidFill>
                  <a:srgbClr val="00B0F0"/>
                </a:solidFill>
              </a:rPr>
              <a:t>creeks into </a:t>
            </a:r>
            <a:r>
              <a:rPr lang="en-IN" dirty="0">
                <a:solidFill>
                  <a:srgbClr val="00B0F0"/>
                </a:solidFill>
              </a:rPr>
              <a:t>reservoirs</a:t>
            </a:r>
            <a:r>
              <a:rPr lang="en-IN" dirty="0"/>
              <a:t> on the surface or underground. It can provide water for farming, for cattle and also for general domestic use. Surface runoff harvesting is </a:t>
            </a:r>
            <a:r>
              <a:rPr lang="en-IN" dirty="0">
                <a:solidFill>
                  <a:srgbClr val="00B0F0"/>
                </a:solidFill>
              </a:rPr>
              <a:t>most suitable in urban areas.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Rooftop rainwater/storm runoff can be harvested in urban areas through:</a:t>
            </a:r>
            <a:br>
              <a:rPr lang="en-IN" dirty="0"/>
            </a:br>
            <a:r>
              <a:rPr lang="en-IN" dirty="0"/>
              <a:t>• Recharge Pit</a:t>
            </a:r>
            <a:br>
              <a:rPr lang="en-IN" dirty="0"/>
            </a:br>
            <a:r>
              <a:rPr lang="en-IN" dirty="0"/>
              <a:t>• Recharge Trench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Tubewell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Recharge Well</a:t>
            </a:r>
          </a:p>
          <a:p>
            <a:endParaRPr lang="en-IN" dirty="0"/>
          </a:p>
        </p:txBody>
      </p:sp>
      <p:pic>
        <p:nvPicPr>
          <p:cNvPr id="1026" name="Picture 2" descr="Image result for surface runoff harv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67425" y="4810125"/>
            <a:ext cx="3352799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4732618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376" y="833718"/>
            <a:ext cx="10820400" cy="3300132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>
                <a:solidFill>
                  <a:srgbClr val="FFFF00"/>
                </a:solidFill>
              </a:rPr>
              <a:t>2. </a:t>
            </a:r>
            <a:r>
              <a:rPr lang="en-IN" b="1" dirty="0">
                <a:solidFill>
                  <a:srgbClr val="FFFF00"/>
                </a:solidFill>
              </a:rPr>
              <a:t>Groundwater recharge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Groundwater recharge is </a:t>
            </a:r>
            <a:r>
              <a:rPr lang="en-IN" dirty="0" smtClean="0"/>
              <a:t>a process </a:t>
            </a:r>
            <a:r>
              <a:rPr lang="en-IN" dirty="0"/>
              <a:t>where </a:t>
            </a:r>
            <a:r>
              <a:rPr lang="en-IN" dirty="0">
                <a:solidFill>
                  <a:srgbClr val="00B0F0"/>
                </a:solidFill>
              </a:rPr>
              <a:t>water moves downward from surface water to </a:t>
            </a:r>
            <a:r>
              <a:rPr lang="en-IN" dirty="0" smtClean="0">
                <a:solidFill>
                  <a:srgbClr val="00B0F0"/>
                </a:solidFill>
              </a:rPr>
              <a:t>groundwater</a:t>
            </a:r>
            <a:r>
              <a:rPr lang="en-IN" dirty="0" smtClean="0"/>
              <a:t>. </a:t>
            </a:r>
            <a:r>
              <a:rPr lang="en-IN" dirty="0"/>
              <a:t>The surplus rainwater can then be used to recharge </a:t>
            </a:r>
            <a:r>
              <a:rPr lang="en-IN" dirty="0" smtClean="0"/>
              <a:t>groundwater </a:t>
            </a:r>
            <a:r>
              <a:rPr lang="en-IN" dirty="0"/>
              <a:t>through </a:t>
            </a:r>
            <a:r>
              <a:rPr lang="en-IN" dirty="0" smtClean="0"/>
              <a:t>artificial recharge techniques.</a:t>
            </a:r>
          </a:p>
          <a:p>
            <a:pPr marL="0" indent="0">
              <a:buNone/>
            </a:pP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Rainwater in rural areas can be harvested through:</a:t>
            </a:r>
            <a:br>
              <a:rPr lang="en-IN" dirty="0" smtClean="0"/>
            </a:br>
            <a:r>
              <a:rPr lang="en-IN" dirty="0" smtClean="0"/>
              <a:t>• Gully Plug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Dug well </a:t>
            </a:r>
            <a:r>
              <a:rPr lang="en-IN" dirty="0"/>
              <a:t>Recharge</a:t>
            </a:r>
            <a:br>
              <a:rPr lang="en-IN" dirty="0"/>
            </a:br>
            <a:r>
              <a:rPr lang="en-IN" dirty="0"/>
              <a:t>• Percolation Tank</a:t>
            </a:r>
            <a:br>
              <a:rPr lang="en-IN" dirty="0"/>
            </a:br>
            <a:r>
              <a:rPr lang="en-IN" dirty="0"/>
              <a:t>• Check </a:t>
            </a:r>
            <a:r>
              <a:rPr lang="en-IN" dirty="0" smtClean="0"/>
              <a:t>Dam</a:t>
            </a:r>
            <a:endParaRPr lang="en-IN" dirty="0"/>
          </a:p>
        </p:txBody>
      </p:sp>
      <p:sp>
        <p:nvSpPr>
          <p:cNvPr id="4" name="AutoShape 2" descr="Image result for groundwater recharge"/>
          <p:cNvSpPr>
            <a:spLocks noChangeAspect="1" noChangeArrowheads="1"/>
          </p:cNvSpPr>
          <p:nvPr/>
        </p:nvSpPr>
        <p:spPr bwMode="auto">
          <a:xfrm>
            <a:off x="2222500" y="181768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 descr="Image result for groundwater rechar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20" descr="Image result for groundwater recharge images h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70" name="Picture 22" descr="Image result for groundwater recharge images h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84213" y="2891118"/>
            <a:ext cx="7489803" cy="384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013547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1" y="724832"/>
            <a:ext cx="12230101" cy="129302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effectLst>
                  <a:glow rad="889000">
                    <a:srgbClr val="00B050">
                      <a:alpha val="72000"/>
                    </a:srgbClr>
                  </a:glow>
                </a:effectLst>
              </a:rPr>
              <a:t>ADVANTAGES OF RAINWATER </a:t>
            </a:r>
            <a:r>
              <a:rPr lang="en-IN" b="1" dirty="0" smtClean="0">
                <a:effectLst>
                  <a:glow rad="889000">
                    <a:srgbClr val="00B050">
                      <a:alpha val="72000"/>
                    </a:srgbClr>
                  </a:glow>
                </a:effectLst>
              </a:rPr>
              <a:t>HARVESTING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9" y="2024743"/>
            <a:ext cx="11428911" cy="4833257"/>
          </a:xfrm>
        </p:spPr>
        <p:txBody>
          <a:bodyPr>
            <a:noAutofit/>
          </a:bodyPr>
          <a:lstStyle/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 all-around expenditures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is much cheaper compared to other purifying or pumping means.</a:t>
            </a:r>
            <a:endParaRPr lang="en-IN" sz="19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Rainwater harvesting systems are cost-effective, provide high-quality water, lessen dependence on wells and are considerably easy to maintain.</a:t>
            </a:r>
          </a:p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minimizes the impacts of flooding by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funnelling </a:t>
            </a:r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off-water </a:t>
            </a:r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into large tanks for recycling.</a:t>
            </a:r>
          </a:p>
          <a:p>
            <a:pPr lvl="0"/>
            <a:r>
              <a:rPr lang="en-IN" sz="1900" dirty="0"/>
              <a:t>It helps reduce the load placed upon drainage systems.</a:t>
            </a:r>
          </a:p>
          <a:p>
            <a:pPr lvl="0"/>
            <a:r>
              <a:rPr lang="en-IN" sz="1900" dirty="0"/>
              <a:t>No land is wasted for </a:t>
            </a:r>
            <a:r>
              <a:rPr lang="en-IN" sz="1900" dirty="0">
                <a:solidFill>
                  <a:srgbClr val="00B0F0"/>
                </a:solidFill>
              </a:rPr>
              <a:t>storage purpose and no population </a:t>
            </a:r>
            <a:r>
              <a:rPr lang="en-IN" sz="1900" dirty="0"/>
              <a:t>displacement is implicated therefore, groundwater is </a:t>
            </a:r>
            <a:r>
              <a:rPr lang="en-IN" sz="1900" dirty="0">
                <a:solidFill>
                  <a:srgbClr val="00B0F0"/>
                </a:solidFill>
              </a:rPr>
              <a:t>not directly exposed to evaporation and</a:t>
            </a:r>
            <a:r>
              <a:rPr lang="en-IN" sz="1900" dirty="0"/>
              <a:t> pollution</a:t>
            </a:r>
            <a:r>
              <a:rPr lang="en-IN" sz="1900" dirty="0" smtClean="0"/>
              <a:t>.</a:t>
            </a:r>
            <a:endParaRPr lang="en-IN" sz="1900" dirty="0"/>
          </a:p>
          <a:p>
            <a:pPr lvl="0"/>
            <a:r>
              <a:rPr lang="en-IN" sz="1900" dirty="0"/>
              <a:t>It reduces soil erosion and flood hazards by collecting rainwater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reduces the flow of storm-water to prevent urban flooding.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mitigates the effects of drought.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Rainwater is mostly free from harmful chemicals, which makes it suitable for irrigation purposes.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increases the productivity of aquifer resulting in the rise of groundwater levels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xmlns="" val="410784525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69173"/>
            <a:ext cx="10934700" cy="1293028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TAMILNADU CASE STUDY OF RAINWATER HARVESTING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24" y="2181113"/>
            <a:ext cx="11766176" cy="4415790"/>
          </a:xfrm>
        </p:spPr>
        <p:txBody>
          <a:bodyPr>
            <a:normAutofit/>
          </a:bodyPr>
          <a:lstStyle/>
          <a:p>
            <a:pPr marL="0" indent="0" algn="just"/>
            <a:r>
              <a:rPr lang="en-IN" smtClean="0"/>
              <a:t> </a:t>
            </a:r>
            <a:r>
              <a:rPr lang="en-IN" dirty="0" smtClean="0"/>
              <a:t>The </a:t>
            </a:r>
            <a:r>
              <a:rPr lang="en-IN" dirty="0"/>
              <a:t>Rain Water Harvesting movement launched in </a:t>
            </a:r>
            <a:r>
              <a:rPr lang="en-IN" dirty="0" smtClean="0"/>
              <a:t>2001.</a:t>
            </a:r>
          </a:p>
          <a:p>
            <a:pPr marL="0" indent="0" algn="just"/>
            <a:r>
              <a:rPr lang="en-IN" dirty="0" smtClean="0"/>
              <a:t> It </a:t>
            </a:r>
            <a:r>
              <a:rPr lang="en-IN" dirty="0"/>
              <a:t>has had a tremendous impact in recharging the groundwater table all over Tamil Nadu. </a:t>
            </a:r>
            <a:endParaRPr lang="en-IN" dirty="0" smtClean="0"/>
          </a:p>
          <a:p>
            <a:pPr marL="0" indent="0" algn="just"/>
            <a:r>
              <a:rPr lang="en-IN" dirty="0" smtClean="0"/>
              <a:t> Amendments </a:t>
            </a:r>
            <a:r>
              <a:rPr lang="en-IN" dirty="0"/>
              <a:t>made to Section 215 (a) of the Tamil Nadu District Municipalities Act, 1920 and Building Rules 1973, have made it mandatory to provide RWH structures in all new </a:t>
            </a:r>
            <a:r>
              <a:rPr lang="en-IN" dirty="0" smtClean="0"/>
              <a:t>buildings.</a:t>
            </a:r>
            <a:endParaRPr lang="en-IN" dirty="0"/>
          </a:p>
          <a:p>
            <a:pPr algn="just"/>
            <a:r>
              <a:rPr lang="en-IN" dirty="0"/>
              <a:t>Action Plan for IEC Activities</a:t>
            </a:r>
          </a:p>
          <a:p>
            <a:pPr lvl="1" algn="just"/>
            <a:r>
              <a:rPr lang="en-IN" dirty="0" smtClean="0"/>
              <a:t>Conduction </a:t>
            </a:r>
            <a:r>
              <a:rPr lang="en-IN" dirty="0"/>
              <a:t>of awareness programme with the coordination of Self Help Groups, Welfare Associations, and NGO’s and school children.</a:t>
            </a:r>
          </a:p>
          <a:p>
            <a:pPr lvl="1" algn="just"/>
            <a:r>
              <a:rPr lang="en-IN" dirty="0"/>
              <a:t>Setting up hoardings displaying the importance and benefits of the Rain Water Harvesting.</a:t>
            </a:r>
          </a:p>
          <a:p>
            <a:pPr lvl="1" algn="just"/>
            <a:r>
              <a:rPr lang="en-IN" dirty="0"/>
              <a:t>Door to Door campaign on Rain water harvesting with the participation of SHGs, NGOs.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703785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8" y="590550"/>
            <a:ext cx="11577918" cy="61055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glow rad="673100">
                    <a:schemeClr val="accent3">
                      <a:lumMod val="60000"/>
                      <a:lumOff val="40000"/>
                      <a:alpha val="61000"/>
                    </a:schemeClr>
                  </a:glow>
                </a:effectLst>
              </a:rPr>
              <a:t>Action </a:t>
            </a:r>
            <a:r>
              <a:rPr lang="en-IN" sz="3200" b="1" dirty="0">
                <a:solidFill>
                  <a:srgbClr val="002060"/>
                </a:solidFill>
                <a:effectLst>
                  <a:glow rad="673100">
                    <a:schemeClr val="accent3">
                      <a:lumMod val="60000"/>
                      <a:lumOff val="40000"/>
                      <a:alpha val="61000"/>
                    </a:schemeClr>
                  </a:glow>
                </a:effectLst>
              </a:rPr>
              <a:t>plan for harvesting campus rain water</a:t>
            </a:r>
          </a:p>
          <a:p>
            <a:pPr lvl="0"/>
            <a:endParaRPr lang="en-IN" sz="2400" dirty="0" smtClean="0"/>
          </a:p>
          <a:p>
            <a:pPr lvl="0" algn="just"/>
            <a:r>
              <a:rPr lang="en-IN" sz="2400" dirty="0" smtClean="0"/>
              <a:t>Provision </a:t>
            </a:r>
            <a:r>
              <a:rPr lang="en-IN" sz="2400" dirty="0"/>
              <a:t>of rain water harvesting structures would also been monitored under Section 215 A of the Tamil Nadu District Municipalities Act, while giving plan approval.  </a:t>
            </a:r>
          </a:p>
          <a:p>
            <a:pPr lvl="0" algn="just"/>
            <a:r>
              <a:rPr lang="en-IN" sz="2400" dirty="0"/>
              <a:t>Rain Water Harvesting Structures </a:t>
            </a:r>
            <a:r>
              <a:rPr lang="en-IN" sz="2400" dirty="0" smtClean="0"/>
              <a:t>have </a:t>
            </a:r>
            <a:r>
              <a:rPr lang="en-IN" sz="2400" dirty="0"/>
              <a:t>been provided in </a:t>
            </a:r>
            <a:r>
              <a:rPr lang="en-IN" sz="2400" dirty="0" smtClean="0"/>
              <a:t>buildings due</a:t>
            </a:r>
            <a:r>
              <a:rPr lang="en-IN" sz="2400" dirty="0"/>
              <a:t> to Town </a:t>
            </a:r>
            <a:r>
              <a:rPr lang="en-IN" sz="2400" dirty="0" err="1"/>
              <a:t>Panchayats</a:t>
            </a:r>
            <a:r>
              <a:rPr lang="en-IN" sz="2400" dirty="0"/>
              <a:t> Department. </a:t>
            </a:r>
          </a:p>
          <a:p>
            <a:pPr lvl="0" algn="just"/>
            <a:r>
              <a:rPr lang="en-IN" sz="2400" dirty="0"/>
              <a:t>Necessary action taken to provide adequate Rain Water harvesting </a:t>
            </a:r>
            <a:r>
              <a:rPr lang="en-IN" sz="2400" dirty="0" smtClean="0"/>
              <a:t>structures.</a:t>
            </a:r>
            <a:endParaRPr lang="en-IN" sz="2400" dirty="0"/>
          </a:p>
          <a:p>
            <a:pPr lvl="0" algn="just"/>
            <a:r>
              <a:rPr lang="en-IN" sz="2400" dirty="0" smtClean="0"/>
              <a:t>Necessary </a:t>
            </a:r>
            <a:r>
              <a:rPr lang="en-IN" sz="2400" dirty="0"/>
              <a:t>action to rejuvenate existing Rain Water Harvesting </a:t>
            </a:r>
            <a:r>
              <a:rPr lang="en-IN" sz="2400" dirty="0" smtClean="0"/>
              <a:t>structures.</a:t>
            </a:r>
          </a:p>
          <a:p>
            <a:pPr lvl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scheme has helped people in water-starved regions such as Chennai by raising water tables in most </a:t>
            </a:r>
            <a:r>
              <a:rPr lang="en-IN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neighbourhoods. Chennai</a:t>
            </a: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had a 50% rise in water level in five years and the water quality significantly improved.</a:t>
            </a:r>
          </a:p>
        </p:txBody>
      </p:sp>
    </p:spTree>
    <p:extLst>
      <p:ext uri="{BB962C8B-B14F-4D97-AF65-F5344CB8AC3E}">
        <p14:creationId xmlns:p14="http://schemas.microsoft.com/office/powerpoint/2010/main" xmlns="" val="5842198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mage result for rainwater harvesting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50925" y="876301"/>
            <a:ext cx="7378700" cy="576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9163051" y="2247900"/>
            <a:ext cx="2933700" cy="2257426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 dirty="0" smtClean="0">
                <a:solidFill>
                  <a:schemeClr val="tx1"/>
                </a:solidFill>
              </a:rPr>
              <a:t>Rain Water Harvesting system of </a:t>
            </a:r>
            <a:r>
              <a:rPr lang="en-IN" b="1" i="1" dirty="0" smtClean="0">
                <a:solidFill>
                  <a:srgbClr val="FFFF00"/>
                </a:solidFill>
              </a:rPr>
              <a:t>Chennai</a:t>
            </a:r>
            <a:endParaRPr lang="en-IN" b="1" i="1" dirty="0">
              <a:solidFill>
                <a:srgbClr val="FFFF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10800000">
            <a:off x="8543925" y="3195638"/>
            <a:ext cx="504825" cy="3619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254802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93931"/>
            <a:ext cx="11706225" cy="1293028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OTHER STATES IMPLEMENTING RAINWATER HARVESTING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259" y="1734670"/>
            <a:ext cx="11833412" cy="5123329"/>
          </a:xfrm>
        </p:spPr>
        <p:txBody>
          <a:bodyPr>
            <a:noAutofit/>
          </a:bodyPr>
          <a:lstStyle/>
          <a:p>
            <a:pPr marL="108000" indent="0" algn="just">
              <a:lnSpc>
                <a:spcPct val="120000"/>
              </a:lnSpc>
              <a:buNone/>
            </a:pPr>
            <a:r>
              <a:rPr lang="en-IN" sz="1760" dirty="0"/>
              <a:t>As a consequence of diminishing groundwater levels, many state governments implemented the idea of rainwater harvesting</a:t>
            </a:r>
            <a:r>
              <a:rPr lang="en-IN" sz="1760" dirty="0" smtClean="0"/>
              <a:t>.</a:t>
            </a:r>
            <a:r>
              <a:rPr lang="en-IN" sz="1760" dirty="0"/>
              <a:t> 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 smtClean="0"/>
              <a:t>In</a:t>
            </a:r>
            <a:r>
              <a:rPr lang="en-IN" sz="1760" dirty="0"/>
              <a:t> </a:t>
            </a:r>
            <a:r>
              <a:rPr lang="en-IN" sz="1760" b="1" i="1" dirty="0">
                <a:solidFill>
                  <a:srgbClr val="FFFF00"/>
                </a:solidFill>
              </a:rPr>
              <a:t>Bangalore</a:t>
            </a:r>
            <a:r>
              <a:rPr lang="en-IN" sz="1760" dirty="0"/>
              <a:t>, adoption of rainwater harvesting is mandatory for every owner or the occupier of a building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/>
              <a:t>In</a:t>
            </a:r>
            <a:r>
              <a:rPr lang="en-IN" sz="1760" b="1" i="1" dirty="0">
                <a:solidFill>
                  <a:srgbClr val="FFFF00"/>
                </a:solidFill>
              </a:rPr>
              <a:t> Rajasthan</a:t>
            </a:r>
            <a:r>
              <a:rPr lang="en-IN" sz="1760" dirty="0"/>
              <a:t>, rainwater harvesting has traditionally been practiced by the people of the </a:t>
            </a:r>
            <a:r>
              <a:rPr lang="en-IN" sz="1760" dirty="0" err="1"/>
              <a:t>Thar</a:t>
            </a:r>
            <a:r>
              <a:rPr lang="en-IN" sz="1760" dirty="0"/>
              <a:t> Desert. Many ancient water harvesting systems in Rajasthan have now been revived. Water harvesting systems are widely used in other areas of Rajasthan, as well, for example, the </a:t>
            </a:r>
            <a:r>
              <a:rPr lang="en-IN" sz="1760" dirty="0" err="1"/>
              <a:t>chauka</a:t>
            </a:r>
            <a:r>
              <a:rPr lang="en-IN" sz="1760" dirty="0"/>
              <a:t> system from the Jaipur district.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 smtClean="0"/>
              <a:t>At </a:t>
            </a:r>
            <a:r>
              <a:rPr lang="en-IN" sz="1760" dirty="0"/>
              <a:t>present, in </a:t>
            </a:r>
            <a:r>
              <a:rPr lang="en-IN" sz="1760" b="1" i="1" dirty="0">
                <a:solidFill>
                  <a:srgbClr val="FFFF00"/>
                </a:solidFill>
              </a:rPr>
              <a:t>Pune</a:t>
            </a:r>
            <a:r>
              <a:rPr lang="en-IN" sz="1760" dirty="0"/>
              <a:t>, rainwater harvesting is compulsory for any new housing society to be registered.</a:t>
            </a:r>
          </a:p>
          <a:p>
            <a:pPr marL="0" lvl="0" algn="just">
              <a:lnSpc>
                <a:spcPct val="120000"/>
              </a:lnSpc>
              <a:spcAft>
                <a:spcPts val="600"/>
              </a:spcAft>
            </a:pPr>
            <a:r>
              <a:rPr lang="en-IN" sz="1760" dirty="0"/>
              <a:t>In </a:t>
            </a:r>
            <a:r>
              <a:rPr lang="en-IN" sz="1760" b="1" i="1" dirty="0">
                <a:solidFill>
                  <a:srgbClr val="FFFF00"/>
                </a:solidFill>
              </a:rPr>
              <a:t>Mumbai</a:t>
            </a:r>
            <a:r>
              <a:rPr lang="en-IN" sz="1760" dirty="0"/>
              <a:t>, </a:t>
            </a:r>
            <a:r>
              <a:rPr lang="en-IN" sz="1760" dirty="0" smtClean="0"/>
              <a:t>the </a:t>
            </a:r>
            <a:r>
              <a:rPr lang="en-IN" sz="1760" dirty="0"/>
              <a:t>Municipal Corporation of Greater Mumbai is planning to make rainwater harvesting mandatory for large </a:t>
            </a:r>
            <a:r>
              <a:rPr lang="en-IN" sz="1760" dirty="0" smtClean="0"/>
              <a:t>societies.</a:t>
            </a:r>
          </a:p>
          <a:p>
            <a:pPr marL="0" lvl="0" algn="just">
              <a:lnSpc>
                <a:spcPct val="120000"/>
              </a:lnSpc>
              <a:spcAft>
                <a:spcPts val="600"/>
              </a:spcAft>
            </a:pPr>
            <a:r>
              <a:rPr lang="en-IN" sz="1760" dirty="0" smtClean="0"/>
              <a:t>The </a:t>
            </a:r>
            <a:r>
              <a:rPr lang="en-IN" sz="1760" dirty="0"/>
              <a:t>Central Ground Water Authority (CGWA) has made rainwater harvesting mandatory in all institutions and residential colonies in notified areas (</a:t>
            </a:r>
            <a:r>
              <a:rPr lang="en-IN" sz="1760" dirty="0">
                <a:solidFill>
                  <a:srgbClr val="FFFF00"/>
                </a:solidFill>
              </a:rPr>
              <a:t>South and South-west Delhi </a:t>
            </a:r>
            <a:r>
              <a:rPr lang="en-IN" sz="1760" dirty="0"/>
              <a:t>and adjoining areas like </a:t>
            </a:r>
            <a:r>
              <a:rPr lang="en-IN" sz="1760" dirty="0">
                <a:solidFill>
                  <a:srgbClr val="FFFF00"/>
                </a:solidFill>
              </a:rPr>
              <a:t>Faridabad, Gurgaon and Ghaziabad</a:t>
            </a:r>
            <a:r>
              <a:rPr lang="en-IN" sz="1760" dirty="0"/>
              <a:t>). </a:t>
            </a:r>
          </a:p>
        </p:txBody>
      </p:sp>
    </p:spTree>
    <p:extLst>
      <p:ext uri="{BB962C8B-B14F-4D97-AF65-F5344CB8AC3E}">
        <p14:creationId xmlns:p14="http://schemas.microsoft.com/office/powerpoint/2010/main" xmlns="" val="20288161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22" y="1604900"/>
            <a:ext cx="10820400" cy="3266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dirty="0" smtClean="0"/>
              <a:t>			</a:t>
            </a:r>
          </a:p>
          <a:p>
            <a:pPr marL="0" indent="0">
              <a:buNone/>
            </a:pPr>
            <a:r>
              <a:rPr lang="en-IN" sz="8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IN" sz="80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	 THANK Y   U</a:t>
            </a:r>
            <a:endParaRPr lang="en-IN" sz="8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122" name="Picture 2" descr="Image result for water dro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699" t="2539" r="27640" b="9528"/>
          <a:stretch/>
        </p:blipFill>
        <p:spPr bwMode="auto">
          <a:xfrm>
            <a:off x="6929759" y="2861132"/>
            <a:ext cx="752030" cy="99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90689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442</TotalTime>
  <Words>695</Words>
  <Application>Microsoft Office PowerPoint</Application>
  <PresentationFormat>Custom</PresentationFormat>
  <Paragraphs>112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Vapor Trail</vt:lpstr>
      <vt:lpstr>Method of Water conservation</vt:lpstr>
      <vt:lpstr>Need of water conservation   </vt:lpstr>
      <vt:lpstr>What is the need of rain water harvesting</vt:lpstr>
      <vt:lpstr>Slide 4</vt:lpstr>
      <vt:lpstr>WHAT IS RAINWATER HARVESTING</vt:lpstr>
      <vt:lpstr>Basic skeleton of rainwater harvesting</vt:lpstr>
      <vt:lpstr>HOW rainwater harvesting IS PRACTICED</vt:lpstr>
      <vt:lpstr>Rainwater harvesting at individual level</vt:lpstr>
      <vt:lpstr>HOW rainwater harvesting IS PRACTICED IN ANCIENT INDIA </vt:lpstr>
      <vt:lpstr>Some images of ancient rain water harvesting</vt:lpstr>
      <vt:lpstr>TRADITIONAL RAINWATER HARVESTING IN INDIA which are still present</vt:lpstr>
      <vt:lpstr>TRADITIONAL RAINWATER HARVESTING IN INDIA which are still present</vt:lpstr>
      <vt:lpstr>Slide 13</vt:lpstr>
      <vt:lpstr>Methods of Rainwater harvesting adopted in rural and urban areas</vt:lpstr>
      <vt:lpstr>Slide 15</vt:lpstr>
      <vt:lpstr>ADVANTAGES OF RAINWATER HARVESTING</vt:lpstr>
      <vt:lpstr>TAMILNADU CASE STUDY OF RAINWATER HARVESTING</vt:lpstr>
      <vt:lpstr>Slide 18</vt:lpstr>
      <vt:lpstr>Slide 19</vt:lpstr>
      <vt:lpstr>OTHER STATES IMPLEMENTING RAINWATER HARVESTING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conservation</dc:title>
  <dc:creator>ASUS</dc:creator>
  <cp:lastModifiedBy>HP</cp:lastModifiedBy>
  <cp:revision>62</cp:revision>
  <dcterms:created xsi:type="dcterms:W3CDTF">2021-02-03T14:55:51Z</dcterms:created>
  <dcterms:modified xsi:type="dcterms:W3CDTF">2021-02-07T15:51:11Z</dcterms:modified>
</cp:coreProperties>
</file>